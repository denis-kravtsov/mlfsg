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9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21/11/2021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74169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21/11/2021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52158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21/11/2021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70886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21/11/2021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3095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21/11/2021</a:t>
            </a:fld>
            <a:endParaRPr lang="en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6541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21/11/2021</a:t>
            </a:fld>
            <a:endParaRPr lang="en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0882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21/11/2021</a:t>
            </a:fld>
            <a:endParaRPr lang="en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8738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21/11/2021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9009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21/11/2021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418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21/11/2021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29150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21/11/2021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71148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00715-5D8F-4E49-8AC2-22DB747A7B84}" type="datetimeFigureOut">
              <a:rPr lang="en-CH" smtClean="0"/>
              <a:t>21/11/2021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54164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5FEF2-15D5-401E-9B15-EEE233DED6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FA9C1-C263-4938-B4F7-86AF00229F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02988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6AAEF-1D12-49A6-84FF-3F7D87C11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the project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40C79-3BA3-4596-8AE2-2F41E8F39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423961"/>
            <a:ext cx="7886700" cy="3263504"/>
          </a:xfrm>
        </p:spPr>
        <p:txBody>
          <a:bodyPr>
            <a:normAutofit/>
          </a:bodyPr>
          <a:lstStyle/>
          <a:p>
            <a:r>
              <a:rPr lang="en-US" sz="1800" dirty="0"/>
              <a:t>Familiarizing with energy datasets</a:t>
            </a:r>
          </a:p>
          <a:p>
            <a:r>
              <a:rPr lang="en-US" sz="1800" dirty="0"/>
              <a:t>Visualization and exploratory data analysis</a:t>
            </a:r>
          </a:p>
          <a:p>
            <a:r>
              <a:rPr lang="en-US" sz="1800" dirty="0"/>
              <a:t>Identifying relevant machine learning algorithms</a:t>
            </a:r>
          </a:p>
          <a:p>
            <a:r>
              <a:rPr lang="en-US" sz="1800" dirty="0"/>
              <a:t>Identifying relevant meta-learning algorithms</a:t>
            </a:r>
          </a:p>
          <a:p>
            <a:r>
              <a:rPr lang="en-US" sz="1800" dirty="0"/>
              <a:t>Simulation and experimental validations</a:t>
            </a:r>
          </a:p>
          <a:p>
            <a:pPr marL="0" indent="0">
              <a:buNone/>
            </a:pPr>
            <a:endParaRPr lang="en-CH" sz="1350" dirty="0"/>
          </a:p>
        </p:txBody>
      </p:sp>
    </p:spTree>
    <p:extLst>
      <p:ext uri="{BB962C8B-B14F-4D97-AF65-F5344CB8AC3E}">
        <p14:creationId xmlns:p14="http://schemas.microsoft.com/office/powerpoint/2010/main" val="3508682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2C784-0721-407B-A1B0-3A5C0ABA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68B72-D24A-4CC7-8FD5-5DEA74B75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Literature review for household consumption prediction</a:t>
            </a:r>
          </a:p>
          <a:p>
            <a:r>
              <a:rPr lang="en-US" sz="1800" dirty="0"/>
              <a:t>Choosing a dataset</a:t>
            </a:r>
          </a:p>
          <a:p>
            <a:r>
              <a:rPr lang="en-US" sz="1800" dirty="0"/>
              <a:t>Performing EDA</a:t>
            </a:r>
          </a:p>
          <a:p>
            <a:r>
              <a:rPr lang="en-US" sz="1800" dirty="0"/>
              <a:t>Implementing a model for a single household consumption prediction</a:t>
            </a:r>
          </a:p>
          <a:p>
            <a:r>
              <a:rPr lang="en-US" sz="1800" dirty="0"/>
              <a:t>Literature review for state of art meta-learning algorithms</a:t>
            </a:r>
          </a:p>
          <a:p>
            <a:r>
              <a:rPr lang="en-US" sz="1800" dirty="0"/>
              <a:t>Implementing a meta-learning model</a:t>
            </a:r>
          </a:p>
          <a:p>
            <a:r>
              <a:rPr lang="en-US" sz="1800" dirty="0"/>
              <a:t>Analyze the results</a:t>
            </a:r>
          </a:p>
          <a:p>
            <a:endParaRPr lang="en-CH" sz="1800" dirty="0"/>
          </a:p>
        </p:txBody>
      </p:sp>
    </p:spTree>
    <p:extLst>
      <p:ext uri="{BB962C8B-B14F-4D97-AF65-F5344CB8AC3E}">
        <p14:creationId xmlns:p14="http://schemas.microsoft.com/office/powerpoint/2010/main" val="4053560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08DC5-6848-4236-9BC0-53F915B08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A7C2A-AD38-4BB7-94CB-9337A7A6C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Smart meters in London Kaggle</a:t>
            </a:r>
          </a:p>
          <a:p>
            <a:pPr lvl="1"/>
            <a:r>
              <a:rPr lang="en-US" sz="1400" dirty="0"/>
              <a:t>Half-hourly household energy consumption</a:t>
            </a:r>
          </a:p>
          <a:p>
            <a:pPr lvl="1"/>
            <a:r>
              <a:rPr lang="en-US" sz="1400" dirty="0"/>
              <a:t>Hourly weather reports</a:t>
            </a:r>
          </a:p>
          <a:p>
            <a:pPr lvl="1"/>
            <a:r>
              <a:rPr lang="en-US" sz="1400" dirty="0"/>
              <a:t>ACORN household details</a:t>
            </a:r>
          </a:p>
          <a:p>
            <a:pPr lvl="1"/>
            <a:r>
              <a:rPr lang="en-US" sz="1400" dirty="0"/>
              <a:t>Bank holidays calendar</a:t>
            </a:r>
          </a:p>
          <a:p>
            <a:pPr marL="457200" lvl="1" indent="0">
              <a:buNone/>
            </a:pPr>
            <a:endParaRPr lang="en-US" sz="1400" dirty="0"/>
          </a:p>
          <a:p>
            <a:endParaRPr lang="en-CH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2D85D6-447B-4608-9F13-293FE0FC4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74" y="3354729"/>
            <a:ext cx="7330451" cy="295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94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990F0-F7C4-4828-B021-BDD06ED74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CH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0F1551-5352-4238-9364-FB7865231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984" y="1521188"/>
            <a:ext cx="4637839" cy="1591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179CC6D-92BB-43B7-8F01-DDC3FC8FE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984" y="3295675"/>
            <a:ext cx="4637838" cy="1591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0C2FC857-D017-4653-ADEE-9CA683C8F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984" y="4952797"/>
            <a:ext cx="4637838" cy="1591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581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4DB7E-3D77-4477-AC8D-38237AB6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CH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E9D64F5-46A3-4C00-853D-2162560EF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071" y="2311148"/>
            <a:ext cx="3558248" cy="2838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92B8146-4309-4439-93E0-21B54752C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102" y="2311148"/>
            <a:ext cx="3558248" cy="2838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613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E1BC-D01F-4A9B-9256-CF56D0F9D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Pre-processing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57524-A1BC-4DA4-A8F8-967FE8D0D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Single household with the highest amount of data taken</a:t>
            </a:r>
          </a:p>
          <a:p>
            <a:r>
              <a:rPr lang="en-US" sz="1800" dirty="0" err="1"/>
              <a:t>Kbest</a:t>
            </a:r>
            <a:r>
              <a:rPr lang="en-US" sz="1800" dirty="0"/>
              <a:t> algorithm to select most important features</a:t>
            </a:r>
          </a:p>
          <a:p>
            <a:pPr lvl="1"/>
            <a:r>
              <a:rPr lang="en-US" sz="1400" dirty="0"/>
              <a:t>Metric used: Mutual Information</a:t>
            </a:r>
          </a:p>
          <a:p>
            <a:r>
              <a:rPr lang="en-US" sz="1800" dirty="0"/>
              <a:t>Autocorrelation plots for lags extraction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Wednesday selected</a:t>
            </a:r>
          </a:p>
          <a:p>
            <a:r>
              <a:rPr lang="en-US" sz="1800" dirty="0"/>
              <a:t>Hourly outliers are cut</a:t>
            </a:r>
          </a:p>
          <a:p>
            <a:r>
              <a:rPr lang="en-US" sz="1800" dirty="0"/>
              <a:t>Dayparts are One-hot encoded</a:t>
            </a:r>
          </a:p>
          <a:p>
            <a:r>
              <a:rPr lang="en-US" sz="1800" dirty="0"/>
              <a:t>Hour of day transformed into sinusoidal function</a:t>
            </a:r>
            <a:endParaRPr lang="en-CH" sz="18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F5D3F1B-37D1-4475-8D68-3184A50F4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062" y="3018486"/>
            <a:ext cx="4041587" cy="165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4686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626B-CD39-4118-B410-69C0300C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features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0A94B-A939-4B69-8DF5-7B0DFD729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Inputs</a:t>
            </a:r>
          </a:p>
          <a:p>
            <a:pPr lvl="1"/>
            <a:r>
              <a:rPr lang="en-US" sz="1400" dirty="0"/>
              <a:t>Numerical inputs</a:t>
            </a:r>
          </a:p>
          <a:p>
            <a:pPr lvl="2"/>
            <a:r>
              <a:rPr lang="en-US" sz="1000" dirty="0"/>
              <a:t>Temperature</a:t>
            </a:r>
          </a:p>
          <a:p>
            <a:pPr lvl="2"/>
            <a:r>
              <a:rPr lang="en-US" sz="1000" dirty="0"/>
              <a:t>Humidity</a:t>
            </a:r>
          </a:p>
          <a:p>
            <a:pPr lvl="2"/>
            <a:r>
              <a:rPr lang="en-US" sz="1000" dirty="0"/>
              <a:t>Hour</a:t>
            </a:r>
          </a:p>
          <a:p>
            <a:pPr lvl="2"/>
            <a:r>
              <a:rPr lang="en-US" sz="1000" dirty="0"/>
              <a:t>Minute</a:t>
            </a:r>
          </a:p>
          <a:p>
            <a:pPr lvl="2"/>
            <a:r>
              <a:rPr lang="en-US" sz="1000" dirty="0"/>
              <a:t>Month</a:t>
            </a:r>
          </a:p>
          <a:p>
            <a:pPr lvl="2"/>
            <a:r>
              <a:rPr lang="en-US" sz="1000" dirty="0"/>
              <a:t>Lags</a:t>
            </a:r>
          </a:p>
          <a:p>
            <a:pPr lvl="1"/>
            <a:r>
              <a:rPr lang="en-US" sz="1400" dirty="0"/>
              <a:t>Binary inputs</a:t>
            </a:r>
          </a:p>
          <a:p>
            <a:pPr lvl="2"/>
            <a:r>
              <a:rPr lang="en-US" sz="1000" dirty="0"/>
              <a:t>Holiday indicator</a:t>
            </a:r>
          </a:p>
          <a:p>
            <a:pPr lvl="2"/>
            <a:r>
              <a:rPr lang="en-US" sz="1000" dirty="0"/>
              <a:t>Daypart</a:t>
            </a:r>
          </a:p>
          <a:p>
            <a:pPr lvl="2"/>
            <a:endParaRPr lang="en-US" sz="1000" dirty="0"/>
          </a:p>
          <a:p>
            <a:r>
              <a:rPr lang="en-US" sz="1800" dirty="0"/>
              <a:t>Output</a:t>
            </a:r>
          </a:p>
          <a:p>
            <a:pPr lvl="1"/>
            <a:r>
              <a:rPr lang="en-US" sz="1400" dirty="0"/>
              <a:t>Energy consumption prediction</a:t>
            </a:r>
            <a:endParaRPr lang="en-CH" sz="1400" dirty="0"/>
          </a:p>
        </p:txBody>
      </p:sp>
    </p:spTree>
    <p:extLst>
      <p:ext uri="{BB962C8B-B14F-4D97-AF65-F5344CB8AC3E}">
        <p14:creationId xmlns:p14="http://schemas.microsoft.com/office/powerpoint/2010/main" val="2694782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094BD-14A6-4E2A-AB7F-2A278424D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00FB6-8733-47CF-B2A2-122A32FA3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Nu-SVR</a:t>
            </a:r>
          </a:p>
          <a:p>
            <a:pPr lvl="1"/>
            <a:r>
              <a:rPr lang="en-US" sz="1400" dirty="0"/>
              <a:t>Based on support vectors</a:t>
            </a:r>
          </a:p>
          <a:p>
            <a:pPr lvl="1"/>
            <a:r>
              <a:rPr lang="en-US" sz="1400" dirty="0"/>
              <a:t>Hyperparameters: Nu, C, Polynomial degree</a:t>
            </a:r>
          </a:p>
          <a:p>
            <a:r>
              <a:rPr lang="en-US" sz="1800" dirty="0"/>
              <a:t>GPR</a:t>
            </a:r>
          </a:p>
          <a:p>
            <a:pPr lvl="1"/>
            <a:r>
              <a:rPr lang="en-US" sz="1400" dirty="0"/>
              <a:t>Based on prior probability estimation </a:t>
            </a:r>
          </a:p>
          <a:p>
            <a:pPr lvl="1"/>
            <a:r>
              <a:rPr lang="en-US" sz="1400" dirty="0"/>
              <a:t>Outputs confidence intervals</a:t>
            </a:r>
          </a:p>
          <a:p>
            <a:pPr lvl="1"/>
            <a:r>
              <a:rPr lang="en-US" sz="1400" dirty="0"/>
              <a:t>Hyperparameters: Kernel type, length scale for RBF kernel, level of white noise</a:t>
            </a:r>
          </a:p>
          <a:p>
            <a:r>
              <a:rPr lang="en-US" sz="1800" dirty="0" err="1"/>
              <a:t>XGBoost</a:t>
            </a:r>
            <a:endParaRPr lang="en-US" sz="1800" dirty="0"/>
          </a:p>
          <a:p>
            <a:pPr lvl="1"/>
            <a:r>
              <a:rPr lang="en-US" sz="1400" dirty="0"/>
              <a:t>Regularizing gradient boosting</a:t>
            </a:r>
          </a:p>
          <a:p>
            <a:pPr lvl="1"/>
            <a:r>
              <a:rPr lang="en-US" sz="1400" dirty="0"/>
              <a:t>Squared error loss function</a:t>
            </a:r>
          </a:p>
        </p:txBody>
      </p:sp>
    </p:spTree>
    <p:extLst>
      <p:ext uri="{BB962C8B-B14F-4D97-AF65-F5344CB8AC3E}">
        <p14:creationId xmlns:p14="http://schemas.microsoft.com/office/powerpoint/2010/main" val="3837877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EF3C7-799D-4045-8F78-2D7C1FD79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236C7-FABF-411A-9386-C133742FA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MAE</a:t>
            </a:r>
          </a:p>
          <a:p>
            <a:r>
              <a:rPr lang="en-US" sz="1800" dirty="0"/>
              <a:t>MSE</a:t>
            </a:r>
          </a:p>
          <a:p>
            <a:r>
              <a:rPr lang="en-US" sz="1800" dirty="0"/>
              <a:t>MDA</a:t>
            </a:r>
          </a:p>
          <a:p>
            <a:pPr lvl="1"/>
            <a:r>
              <a:rPr lang="en-US" sz="1400" dirty="0"/>
              <a:t>Mean directional accuracy: compares the forecast direction to the actual realized direction.</a:t>
            </a:r>
          </a:p>
          <a:p>
            <a:r>
              <a:rPr lang="en-US" sz="1800" dirty="0"/>
              <a:t>R2</a:t>
            </a:r>
            <a:endParaRPr lang="en-CH" sz="1800" dirty="0"/>
          </a:p>
        </p:txBody>
      </p:sp>
    </p:spTree>
    <p:extLst>
      <p:ext uri="{BB962C8B-B14F-4D97-AF65-F5344CB8AC3E}">
        <p14:creationId xmlns:p14="http://schemas.microsoft.com/office/powerpoint/2010/main" val="521057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F7EB7-FCBE-4C13-9D80-C1E46C9DA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SVR</a:t>
            </a:r>
            <a:endParaRPr lang="en-CH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555B2FF-41CF-4C22-9294-4C9CC342B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763" y="1446767"/>
            <a:ext cx="5603382" cy="235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C92055B2-34E3-4937-8A34-EEA66ED65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970" y="3803884"/>
            <a:ext cx="5642968" cy="235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622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4DDD-1341-41C4-B199-E0F7CE3CC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GPR</a:t>
            </a:r>
            <a:endParaRPr lang="en-CH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DE0BA37-220C-4C17-9003-738753F79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341" y="1690689"/>
            <a:ext cx="5117318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>
            <a:extLst>
              <a:ext uri="{FF2B5EF4-FFF2-40B4-BE49-F238E27FC236}">
                <a16:creationId xmlns:a16="http://schemas.microsoft.com/office/drawing/2014/main" id="{B3F4AAE5-CA53-466C-AE67-21B6FA066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341" y="3923771"/>
            <a:ext cx="5117318" cy="2137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0073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7D41F-21CA-4D4E-B080-0740533D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  <a:r>
              <a:rPr lang="en-US" dirty="0" err="1"/>
              <a:t>XGBoost</a:t>
            </a:r>
            <a:endParaRPr lang="en-CH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DA38638-237F-483A-9E35-B4251681F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776" y="1463041"/>
            <a:ext cx="5912448" cy="2487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7CEFDCB9-2AF0-4131-BFDF-6910FBC6C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776" y="3950170"/>
            <a:ext cx="5912448" cy="2469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390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</TotalTime>
  <Words>219</Words>
  <Application>Microsoft Office PowerPoint</Application>
  <PresentationFormat>On-screen Show (4:3)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Goals of the project</vt:lpstr>
      <vt:lpstr>Steps</vt:lpstr>
      <vt:lpstr>Dataset</vt:lpstr>
      <vt:lpstr>Dataset</vt:lpstr>
      <vt:lpstr>Dataset</vt:lpstr>
      <vt:lpstr>Pre-processing</vt:lpstr>
      <vt:lpstr>Model features</vt:lpstr>
      <vt:lpstr>Modelling</vt:lpstr>
      <vt:lpstr>Evaluation metrics</vt:lpstr>
      <vt:lpstr>Results SVR</vt:lpstr>
      <vt:lpstr>Results GPR</vt:lpstr>
      <vt:lpstr>Results XGBoost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Kravtsov Denis</dc:creator>
  <cp:lastModifiedBy>Kravtsov Denis</cp:lastModifiedBy>
  <cp:revision>8</cp:revision>
  <dcterms:created xsi:type="dcterms:W3CDTF">2021-11-21T13:15:59Z</dcterms:created>
  <dcterms:modified xsi:type="dcterms:W3CDTF">2021-11-21T14:42:30Z</dcterms:modified>
</cp:coreProperties>
</file>