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72" r:id="rId2"/>
    <p:sldId id="273" r:id="rId3"/>
    <p:sldId id="274" r:id="rId4"/>
    <p:sldId id="257" r:id="rId5"/>
    <p:sldId id="258" r:id="rId6"/>
    <p:sldId id="275" r:id="rId7"/>
    <p:sldId id="259" r:id="rId8"/>
    <p:sldId id="280" r:id="rId9"/>
    <p:sldId id="260" r:id="rId10"/>
    <p:sldId id="261" r:id="rId11"/>
    <p:sldId id="276" r:id="rId12"/>
    <p:sldId id="262" r:id="rId13"/>
    <p:sldId id="282" r:id="rId14"/>
    <p:sldId id="264" r:id="rId15"/>
    <p:sldId id="277" r:id="rId16"/>
    <p:sldId id="263" r:id="rId17"/>
    <p:sldId id="281" r:id="rId18"/>
    <p:sldId id="278" r:id="rId19"/>
    <p:sldId id="266" r:id="rId20"/>
    <p:sldId id="267" r:id="rId21"/>
    <p:sldId id="268" r:id="rId22"/>
    <p:sldId id="270" r:id="rId23"/>
    <p:sldId id="269" r:id="rId24"/>
    <p:sldId id="279" r:id="rId25"/>
    <p:sldId id="271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5" autoAdjust="0"/>
    <p:restoredTop sz="94660"/>
  </p:normalViewPr>
  <p:slideViewPr>
    <p:cSldViewPr snapToGrid="0">
      <p:cViewPr varScale="1">
        <p:scale>
          <a:sx n="77" d="100"/>
          <a:sy n="77" d="100"/>
        </p:scale>
        <p:origin x="72" y="2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00715-5D8F-4E49-8AC2-22DB747A7B84}" type="datetimeFigureOut">
              <a:rPr lang="en-CH" smtClean="0"/>
              <a:t>11/21/2021</a:t>
            </a:fld>
            <a:endParaRPr lang="en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543F5-992A-4222-8E75-A41DA5B7814C}" type="slidenum">
              <a:rPr lang="en-CH" smtClean="0"/>
              <a:t>‹#›</a:t>
            </a:fld>
            <a:endParaRPr lang="en-CH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95652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00715-5D8F-4E49-8AC2-22DB747A7B84}" type="datetimeFigureOut">
              <a:rPr lang="en-CH" smtClean="0"/>
              <a:t>11/21/2021</a:t>
            </a:fld>
            <a:endParaRPr lang="en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543F5-992A-4222-8E75-A41DA5B7814C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888620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00715-5D8F-4E49-8AC2-22DB747A7B84}" type="datetimeFigureOut">
              <a:rPr lang="en-CH" smtClean="0"/>
              <a:t>11/21/2021</a:t>
            </a:fld>
            <a:endParaRPr lang="en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543F5-992A-4222-8E75-A41DA5B7814C}" type="slidenum">
              <a:rPr lang="en-CH" smtClean="0"/>
              <a:t>‹#›</a:t>
            </a:fld>
            <a:endParaRPr lang="en-CH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7193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00715-5D8F-4E49-8AC2-22DB747A7B84}" type="datetimeFigureOut">
              <a:rPr lang="en-CH" smtClean="0"/>
              <a:t>11/21/2021</a:t>
            </a:fld>
            <a:endParaRPr lang="en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543F5-992A-4222-8E75-A41DA5B7814C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713462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00715-5D8F-4E49-8AC2-22DB747A7B84}" type="datetimeFigureOut">
              <a:rPr lang="en-CH" smtClean="0"/>
              <a:t>11/21/2021</a:t>
            </a:fld>
            <a:endParaRPr lang="en-C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543F5-992A-4222-8E75-A41DA5B7814C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0702495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00715-5D8F-4E49-8AC2-22DB747A7B84}" type="datetimeFigureOut">
              <a:rPr lang="en-CH" smtClean="0"/>
              <a:t>11/21/2021</a:t>
            </a:fld>
            <a:endParaRPr lang="en-C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543F5-992A-4222-8E75-A41DA5B7814C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1165924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00715-5D8F-4E49-8AC2-22DB747A7B84}" type="datetimeFigureOut">
              <a:rPr lang="en-CH" smtClean="0"/>
              <a:t>11/21/2021</a:t>
            </a:fld>
            <a:endParaRPr lang="en-C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C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543F5-992A-4222-8E75-A41DA5B7814C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559121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2A00715-5D8F-4E49-8AC2-22DB747A7B84}" type="datetimeFigureOut">
              <a:rPr lang="en-CH" smtClean="0"/>
              <a:t>11/21/2021</a:t>
            </a:fld>
            <a:endParaRPr lang="en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B7543F5-992A-4222-8E75-A41DA5B7814C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9043083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00715-5D8F-4E49-8AC2-22DB747A7B84}" type="datetimeFigureOut">
              <a:rPr lang="en-CH" smtClean="0"/>
              <a:t>11/21/2021</a:t>
            </a:fld>
            <a:endParaRPr lang="en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543F5-992A-4222-8E75-A41DA5B7814C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3857087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00715-5D8F-4E49-8AC2-22DB747A7B84}" type="datetimeFigureOut">
              <a:rPr lang="en-CH" smtClean="0"/>
              <a:t>11/21/2021</a:t>
            </a:fld>
            <a:endParaRPr lang="en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543F5-992A-4222-8E75-A41DA5B7814C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171562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00715-5D8F-4E49-8AC2-22DB747A7B84}" type="datetimeFigureOut">
              <a:rPr lang="en-CH" smtClean="0"/>
              <a:t>11/21/2021</a:t>
            </a:fld>
            <a:endParaRPr lang="en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543F5-992A-4222-8E75-A41DA5B7814C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8484404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2A00715-5D8F-4E49-8AC2-22DB747A7B84}" type="datetimeFigureOut">
              <a:rPr lang="en-CH" smtClean="0"/>
              <a:t>11/21/2021</a:t>
            </a:fld>
            <a:endParaRPr lang="en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B7543F5-992A-4222-8E75-A41DA5B7814C}" type="slidenum">
              <a:rPr lang="en-CH" smtClean="0"/>
              <a:t>‹#›</a:t>
            </a:fld>
            <a:endParaRPr lang="en-CH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5674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3.svg"/><Relationship Id="rId4" Type="http://schemas.openxmlformats.org/officeDocument/2006/relationships/image" Target="../media/image22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F491012-568C-4BF4-AE42-C2F3733EED1F}"/>
              </a:ext>
            </a:extLst>
          </p:cNvPr>
          <p:cNvPicPr>
            <a:picLocks noChangeAspect="1"/>
          </p:cNvPicPr>
          <p:nvPr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>
            <a:off x="4215045" y="960325"/>
            <a:ext cx="3761910" cy="162918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Subtitle 1">
            <a:extLst>
              <a:ext uri="{FF2B5EF4-FFF2-40B4-BE49-F238E27FC236}">
                <a16:creationId xmlns:a16="http://schemas.microsoft.com/office/drawing/2014/main" id="{32F81F11-E31F-4521-83D3-B10D3395C2C4}"/>
              </a:ext>
            </a:extLst>
          </p:cNvPr>
          <p:cNvSpPr txBox="1">
            <a:spLocks/>
          </p:cNvSpPr>
          <p:nvPr/>
        </p:nvSpPr>
        <p:spPr>
          <a:xfrm>
            <a:off x="2694135" y="2652479"/>
            <a:ext cx="6803730" cy="2327304"/>
          </a:xfrm>
          <a:prstGeom prst="rect">
            <a:avLst/>
          </a:prstGeom>
        </p:spPr>
        <p:txBody>
          <a:bodyPr vert="horz" lIns="68580" tIns="34290" rIns="68580" bIns="34290" rtlCol="0" anchor="ctr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None/>
            </a:pPr>
            <a:r>
              <a:rPr lang="en-US" sz="2100" dirty="0"/>
              <a:t>Meta Learning in Smart Grids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en-US" sz="2100" dirty="0"/>
              <a:t>Semester Project</a:t>
            </a:r>
          </a:p>
          <a:p>
            <a:pPr marL="0" indent="0" algn="ctr">
              <a:buNone/>
            </a:pPr>
            <a:endParaRPr lang="en-US" sz="2100" dirty="0"/>
          </a:p>
          <a:p>
            <a:pPr marL="0" indent="0" algn="ctr">
              <a:buNone/>
            </a:pPr>
            <a:r>
              <a:rPr lang="en-US" sz="2100" dirty="0"/>
              <a:t>Kravtsov Denis</a:t>
            </a:r>
          </a:p>
          <a:p>
            <a:pPr marL="0" indent="0" algn="ctr">
              <a:buNone/>
            </a:pPr>
            <a:r>
              <a:rPr lang="en-US" sz="2100" dirty="0"/>
              <a:t>Supervisor: </a:t>
            </a:r>
            <a:r>
              <a:rPr lang="en-US" sz="2100" dirty="0" err="1"/>
              <a:t>Mahrokh</a:t>
            </a:r>
            <a:r>
              <a:rPr lang="en-US" sz="2100" dirty="0"/>
              <a:t> </a:t>
            </a:r>
            <a:r>
              <a:rPr lang="en-US" sz="2100" dirty="0" err="1"/>
              <a:t>Ghoddousiboroujeni</a:t>
            </a:r>
            <a:r>
              <a:rPr lang="en-US" sz="2100" dirty="0"/>
              <a:t> </a:t>
            </a:r>
          </a:p>
          <a:p>
            <a:pPr marL="0" indent="0" algn="ctr">
              <a:buNone/>
            </a:pPr>
            <a:r>
              <a:rPr lang="en-US" sz="2100" dirty="0"/>
              <a:t>Prof. Giancarlo Ferrari </a:t>
            </a:r>
            <a:r>
              <a:rPr lang="en-US" sz="2100" dirty="0" err="1"/>
              <a:t>Trecate</a:t>
            </a:r>
            <a:r>
              <a:rPr lang="en-US" sz="2100" dirty="0"/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579E2F2-301E-4213-B293-14809551F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787E8-3156-4054-AABA-1D33A9F354C3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54635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1B6E0-B8A1-4961-A76B-BAAEBC78B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of contents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15302C-0734-4BFE-90A6-24F7590FCA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095191"/>
            <a:ext cx="10256520" cy="2852907"/>
          </a:xfrm>
        </p:spPr>
        <p:txBody>
          <a:bodyPr anchor="ctr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200" dirty="0"/>
              <a:t>Project Description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200" dirty="0"/>
              <a:t>Dataset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200" dirty="0"/>
              <a:t>Pre-processing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200" dirty="0"/>
              <a:t>Modelling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200" dirty="0"/>
              <a:t>Results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200" dirty="0"/>
              <a:t>Next Steps</a:t>
            </a:r>
            <a:endParaRPr lang="ru-RU" sz="2200" dirty="0"/>
          </a:p>
        </p:txBody>
      </p:sp>
    </p:spTree>
    <p:extLst>
      <p:ext uri="{BB962C8B-B14F-4D97-AF65-F5344CB8AC3E}">
        <p14:creationId xmlns:p14="http://schemas.microsoft.com/office/powerpoint/2010/main" val="26376839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1B6E0-B8A1-4961-A76B-BAAEBC78B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of contents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15302C-0734-4BFE-90A6-24F7590FCA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085252"/>
            <a:ext cx="10256520" cy="2852907"/>
          </a:xfrm>
        </p:spPr>
        <p:txBody>
          <a:bodyPr anchor="ctr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200" dirty="0"/>
              <a:t>Project Description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200" dirty="0">
                <a:solidFill>
                  <a:schemeClr val="bg1">
                    <a:lumMod val="65000"/>
                  </a:schemeClr>
                </a:solidFill>
              </a:rPr>
              <a:t>Dataset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200" dirty="0">
                <a:solidFill>
                  <a:schemeClr val="bg1">
                    <a:lumMod val="65000"/>
                  </a:schemeClr>
                </a:solidFill>
              </a:rPr>
              <a:t>Pre-processing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200" dirty="0">
                <a:solidFill>
                  <a:schemeClr val="bg1">
                    <a:lumMod val="65000"/>
                  </a:schemeClr>
                </a:solidFill>
              </a:rPr>
              <a:t>Modelling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200" dirty="0">
                <a:solidFill>
                  <a:schemeClr val="bg1">
                    <a:lumMod val="65000"/>
                  </a:schemeClr>
                </a:solidFill>
              </a:rPr>
              <a:t>Results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200" dirty="0">
                <a:solidFill>
                  <a:schemeClr val="bg1">
                    <a:lumMod val="65000"/>
                  </a:schemeClr>
                </a:solidFill>
              </a:rPr>
              <a:t>Next Steps</a:t>
            </a:r>
            <a:endParaRPr lang="ru-RU" sz="22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06907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6AAEF-1D12-49A6-84FF-3F7D87C11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Goals of the project</a:t>
            </a:r>
            <a:endParaRPr lang="en-C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540C79-3BA3-4596-8AE2-2F41E8F39E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57630"/>
            <a:ext cx="10153816" cy="3263504"/>
          </a:xfrm>
        </p:spPr>
        <p:txBody>
          <a:bodyPr anchor="ctr">
            <a:normAutofit/>
          </a:bodyPr>
          <a:lstStyle/>
          <a:p>
            <a:pPr lvl="1">
              <a:lnSpc>
                <a:spcPct val="200000"/>
              </a:lnSpc>
            </a:pPr>
            <a:r>
              <a:rPr lang="en-US" dirty="0"/>
              <a:t>Familiarizing with energy datasets</a:t>
            </a:r>
          </a:p>
          <a:p>
            <a:pPr lvl="1">
              <a:lnSpc>
                <a:spcPct val="200000"/>
              </a:lnSpc>
            </a:pPr>
            <a:r>
              <a:rPr lang="en-US" dirty="0"/>
              <a:t>Visualization and exploratory data analysis</a:t>
            </a:r>
          </a:p>
          <a:p>
            <a:pPr lvl="1">
              <a:lnSpc>
                <a:spcPct val="200000"/>
              </a:lnSpc>
            </a:pPr>
            <a:r>
              <a:rPr lang="en-US" dirty="0"/>
              <a:t>Identifying relevant machine learning algorithms</a:t>
            </a:r>
          </a:p>
          <a:p>
            <a:pPr lvl="1">
              <a:lnSpc>
                <a:spcPct val="200000"/>
              </a:lnSpc>
            </a:pPr>
            <a:r>
              <a:rPr lang="en-US" dirty="0"/>
              <a:t>Identifying relevant meta-learning algorithms</a:t>
            </a:r>
          </a:p>
          <a:p>
            <a:pPr lvl="1">
              <a:lnSpc>
                <a:spcPct val="200000"/>
              </a:lnSpc>
            </a:pPr>
            <a:r>
              <a:rPr lang="en-US" dirty="0"/>
              <a:t>Simulation and experimental validations</a:t>
            </a:r>
          </a:p>
          <a:p>
            <a:pPr marL="0" indent="0">
              <a:buNone/>
            </a:pPr>
            <a:endParaRPr lang="en-CH" sz="1350" dirty="0"/>
          </a:p>
        </p:txBody>
      </p:sp>
    </p:spTree>
    <p:extLst>
      <p:ext uri="{BB962C8B-B14F-4D97-AF65-F5344CB8AC3E}">
        <p14:creationId xmlns:p14="http://schemas.microsoft.com/office/powerpoint/2010/main" val="35086825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2C784-0721-407B-A1B0-3A5C0ABA0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</a:t>
            </a:r>
            <a:endParaRPr lang="en-C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268B72-D24A-4CC7-8FD5-5DEA74B755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958009"/>
            <a:ext cx="10287000" cy="3846443"/>
          </a:xfrm>
        </p:spPr>
        <p:txBody>
          <a:bodyPr anchor="ctr"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800" dirty="0"/>
              <a:t>Literature review for household consumption prediction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Choosing a dataset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Performing EDA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Implementing a model for a single household consumption prediction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Literature review for state of art meta-learning algorithms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Implementing a meta-learning model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Analyze the results</a:t>
            </a:r>
          </a:p>
          <a:p>
            <a:pPr marL="342900" indent="-342900">
              <a:buFont typeface="+mj-lt"/>
              <a:buAutoNum type="arabicPeriod"/>
            </a:pPr>
            <a:endParaRPr lang="en-CH" sz="1800" dirty="0"/>
          </a:p>
        </p:txBody>
      </p:sp>
    </p:spTree>
    <p:extLst>
      <p:ext uri="{BB962C8B-B14F-4D97-AF65-F5344CB8AC3E}">
        <p14:creationId xmlns:p14="http://schemas.microsoft.com/office/powerpoint/2010/main" val="40535600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1B6E0-B8A1-4961-A76B-BAAEBC78B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of contents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15302C-0734-4BFE-90A6-24F7590FCA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095191"/>
            <a:ext cx="10256520" cy="2852907"/>
          </a:xfrm>
        </p:spPr>
        <p:txBody>
          <a:bodyPr anchor="ctr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200" dirty="0">
                <a:solidFill>
                  <a:schemeClr val="bg1">
                    <a:lumMod val="65000"/>
                  </a:schemeClr>
                </a:solidFill>
              </a:rPr>
              <a:t>Project Description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200" dirty="0"/>
              <a:t>Dataset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200" dirty="0">
                <a:solidFill>
                  <a:schemeClr val="bg1">
                    <a:lumMod val="65000"/>
                  </a:schemeClr>
                </a:solidFill>
              </a:rPr>
              <a:t>Pre-processing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200" dirty="0">
                <a:solidFill>
                  <a:schemeClr val="bg1">
                    <a:lumMod val="65000"/>
                  </a:schemeClr>
                </a:solidFill>
              </a:rPr>
              <a:t>Modelling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200" dirty="0">
                <a:solidFill>
                  <a:schemeClr val="bg1">
                    <a:lumMod val="65000"/>
                  </a:schemeClr>
                </a:solidFill>
              </a:rPr>
              <a:t>Results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200" dirty="0">
                <a:solidFill>
                  <a:schemeClr val="bg1">
                    <a:lumMod val="65000"/>
                  </a:schemeClr>
                </a:solidFill>
              </a:rPr>
              <a:t>Next Steps</a:t>
            </a:r>
            <a:endParaRPr lang="ru-RU" sz="22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10537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08DC5-6848-4236-9BC0-53F915B08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</a:t>
            </a:r>
            <a:endParaRPr lang="en-C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6A7C2A-AD38-4BB7-94CB-9337A7A6C3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200" b="1" dirty="0"/>
              <a:t>Smart meters in London Kaggle Dataset</a:t>
            </a:r>
          </a:p>
          <a:p>
            <a:pPr lvl="1">
              <a:lnSpc>
                <a:spcPct val="150000"/>
              </a:lnSpc>
            </a:pPr>
            <a:r>
              <a:rPr lang="en-US" sz="1800" dirty="0"/>
              <a:t>Half-hourly household energy consumption</a:t>
            </a:r>
          </a:p>
          <a:p>
            <a:pPr lvl="1">
              <a:lnSpc>
                <a:spcPct val="150000"/>
              </a:lnSpc>
            </a:pPr>
            <a:r>
              <a:rPr lang="en-US" sz="1800" dirty="0"/>
              <a:t>Hourly weather reports</a:t>
            </a:r>
          </a:p>
          <a:p>
            <a:pPr lvl="1">
              <a:lnSpc>
                <a:spcPct val="150000"/>
              </a:lnSpc>
            </a:pPr>
            <a:r>
              <a:rPr lang="en-US" sz="1800" dirty="0"/>
              <a:t>ACORN household details</a:t>
            </a:r>
          </a:p>
          <a:p>
            <a:pPr lvl="1">
              <a:lnSpc>
                <a:spcPct val="150000"/>
              </a:lnSpc>
            </a:pPr>
            <a:r>
              <a:rPr lang="en-US" sz="1800" dirty="0"/>
              <a:t>Bank holidays calendar</a:t>
            </a:r>
          </a:p>
          <a:p>
            <a:pPr marL="457200" lvl="1" indent="0">
              <a:buNone/>
            </a:pPr>
            <a:endParaRPr lang="en-US" sz="1400" dirty="0"/>
          </a:p>
          <a:p>
            <a:endParaRPr lang="en-CH" sz="1800" dirty="0"/>
          </a:p>
        </p:txBody>
      </p:sp>
    </p:spTree>
    <p:extLst>
      <p:ext uri="{BB962C8B-B14F-4D97-AF65-F5344CB8AC3E}">
        <p14:creationId xmlns:p14="http://schemas.microsoft.com/office/powerpoint/2010/main" val="34126948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9A3DD-0E22-466D-9FDD-6A6B1ED1F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Consumption Distribution</a:t>
            </a:r>
            <a:endParaRPr lang="ru-R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66FC85-4702-4920-984C-C613BFF0D6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878496"/>
            <a:ext cx="10224707" cy="4124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68812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1B0F1551-5352-4238-9364-FB78652315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2626" y="189539"/>
            <a:ext cx="6347086" cy="2178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5179CC6D-92BB-43B7-8F01-DDC3FC8FE6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2626" y="2368042"/>
            <a:ext cx="6347086" cy="2178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0C2FC857-D017-4653-ADEE-9CA683C8F1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2626" y="4546546"/>
            <a:ext cx="6347086" cy="2178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75812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FE9D64F5-46A3-4C00-853D-2162560EFD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502" y="1802167"/>
            <a:ext cx="5178398" cy="41310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092B8146-4309-4439-93E0-21B54752CD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1101" y="1802167"/>
            <a:ext cx="5178397" cy="41310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061318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1B6E0-B8A1-4961-A76B-BAAEBC78B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of contents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15302C-0734-4BFE-90A6-24F7590FCA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095191"/>
            <a:ext cx="10256520" cy="2852907"/>
          </a:xfrm>
        </p:spPr>
        <p:txBody>
          <a:bodyPr anchor="ctr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200" dirty="0">
                <a:solidFill>
                  <a:schemeClr val="bg1">
                    <a:lumMod val="65000"/>
                  </a:schemeClr>
                </a:solidFill>
              </a:rPr>
              <a:t>Project Description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200" dirty="0">
                <a:solidFill>
                  <a:schemeClr val="bg1">
                    <a:lumMod val="65000"/>
                  </a:schemeClr>
                </a:solidFill>
              </a:rPr>
              <a:t>Dataset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200" dirty="0"/>
              <a:t>Pre-processing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200" dirty="0">
                <a:solidFill>
                  <a:schemeClr val="bg1">
                    <a:lumMod val="65000"/>
                  </a:schemeClr>
                </a:solidFill>
              </a:rPr>
              <a:t>Modelling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200" dirty="0">
                <a:solidFill>
                  <a:schemeClr val="bg1">
                    <a:lumMod val="65000"/>
                  </a:schemeClr>
                </a:solidFill>
              </a:rPr>
              <a:t>Results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200" dirty="0">
                <a:solidFill>
                  <a:schemeClr val="bg1">
                    <a:lumMod val="65000"/>
                  </a:schemeClr>
                </a:solidFill>
              </a:rPr>
              <a:t>Next Steps</a:t>
            </a:r>
            <a:endParaRPr lang="ru-RU" sz="22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97166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EE1BC-D01F-4A9B-9256-CF56D0F9D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Pre-processing</a:t>
            </a:r>
            <a:endParaRPr lang="en-C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A57524-A1BC-4DA4-A8F8-967FE8D0D7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7827" y="1878497"/>
            <a:ext cx="8911425" cy="4174434"/>
          </a:xfrm>
        </p:spPr>
        <p:txBody>
          <a:bodyPr anchor="ctr">
            <a:noAutofit/>
          </a:bodyPr>
          <a:lstStyle/>
          <a:p>
            <a:pPr lvl="1">
              <a:lnSpc>
                <a:spcPct val="150000"/>
              </a:lnSpc>
            </a:pPr>
            <a:r>
              <a:rPr lang="en-US" sz="2000" dirty="0"/>
              <a:t>Single household with the highest data span examined</a:t>
            </a:r>
          </a:p>
          <a:p>
            <a:pPr lvl="1">
              <a:lnSpc>
                <a:spcPct val="150000"/>
              </a:lnSpc>
            </a:pPr>
            <a:r>
              <a:rPr lang="en-US" sz="2000" dirty="0" err="1"/>
              <a:t>Kbest</a:t>
            </a:r>
            <a:r>
              <a:rPr lang="en-US" sz="2000" dirty="0"/>
              <a:t> algorithm to select most important features</a:t>
            </a:r>
          </a:p>
          <a:p>
            <a:pPr lvl="2">
              <a:lnSpc>
                <a:spcPct val="150000"/>
              </a:lnSpc>
            </a:pPr>
            <a:r>
              <a:rPr lang="en-US" sz="2000" dirty="0"/>
              <a:t>Metric used: Mutual Information</a:t>
            </a:r>
          </a:p>
          <a:p>
            <a:pPr lvl="1">
              <a:lnSpc>
                <a:spcPct val="150000"/>
              </a:lnSpc>
            </a:pPr>
            <a:r>
              <a:rPr lang="en-US" sz="2000" dirty="0"/>
              <a:t>Autocorrelation plots for lags extraction</a:t>
            </a:r>
          </a:p>
          <a:p>
            <a:pPr lvl="1">
              <a:lnSpc>
                <a:spcPct val="150000"/>
              </a:lnSpc>
            </a:pPr>
            <a:r>
              <a:rPr lang="en-US" sz="2000" dirty="0"/>
              <a:t>Wednesday selected</a:t>
            </a:r>
          </a:p>
          <a:p>
            <a:pPr lvl="1">
              <a:lnSpc>
                <a:spcPct val="150000"/>
              </a:lnSpc>
            </a:pPr>
            <a:r>
              <a:rPr lang="en-US" sz="2000" dirty="0"/>
              <a:t>Hourly outliers are cut</a:t>
            </a:r>
          </a:p>
          <a:p>
            <a:pPr lvl="1">
              <a:lnSpc>
                <a:spcPct val="150000"/>
              </a:lnSpc>
            </a:pPr>
            <a:r>
              <a:rPr lang="en-US" sz="2000" dirty="0"/>
              <a:t>Dayparts are One-hot encoded</a:t>
            </a:r>
          </a:p>
          <a:p>
            <a:pPr lvl="1">
              <a:lnSpc>
                <a:spcPct val="150000"/>
              </a:lnSpc>
            </a:pPr>
            <a:r>
              <a:rPr lang="en-US" sz="2000" dirty="0"/>
              <a:t>Hour of day transformed into sinusoidal function</a:t>
            </a:r>
            <a:endParaRPr lang="en-CH" sz="2000" dirty="0"/>
          </a:p>
        </p:txBody>
      </p:sp>
    </p:spTree>
    <p:extLst>
      <p:ext uri="{BB962C8B-B14F-4D97-AF65-F5344CB8AC3E}">
        <p14:creationId xmlns:p14="http://schemas.microsoft.com/office/powerpoint/2010/main" val="20846865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A734C-43D7-435F-96F0-F89EF8E18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Autocorrelation plot</a:t>
            </a:r>
            <a:endParaRPr lang="ru-RU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5D8D87F5-1DC3-4B61-BEA2-E05019C638F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7075" y="1846263"/>
            <a:ext cx="9818176" cy="402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23398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F626B-CD39-4118-B410-69C0300C1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features</a:t>
            </a:r>
            <a:endParaRPr lang="en-C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40A94B-A939-4B69-8DF5-7B0DFD729D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6690"/>
            <a:ext cx="4408998" cy="4304666"/>
          </a:xfr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800" b="1" dirty="0"/>
              <a:t>Inputs</a:t>
            </a:r>
          </a:p>
          <a:p>
            <a:pPr lvl="1">
              <a:lnSpc>
                <a:spcPct val="100000"/>
              </a:lnSpc>
            </a:pPr>
            <a:r>
              <a:rPr lang="en-US" b="1" dirty="0"/>
              <a:t>Numerical inputs</a:t>
            </a:r>
          </a:p>
          <a:p>
            <a:pPr lvl="2">
              <a:lnSpc>
                <a:spcPct val="100000"/>
              </a:lnSpc>
            </a:pPr>
            <a:r>
              <a:rPr lang="en-US" sz="1800" dirty="0"/>
              <a:t>Temperature</a:t>
            </a:r>
          </a:p>
          <a:p>
            <a:pPr lvl="2">
              <a:lnSpc>
                <a:spcPct val="100000"/>
              </a:lnSpc>
            </a:pPr>
            <a:r>
              <a:rPr lang="en-US" sz="1800" dirty="0"/>
              <a:t>Humidity</a:t>
            </a:r>
          </a:p>
          <a:p>
            <a:pPr lvl="2">
              <a:lnSpc>
                <a:spcPct val="100000"/>
              </a:lnSpc>
            </a:pPr>
            <a:r>
              <a:rPr lang="en-US" sz="1800" dirty="0"/>
              <a:t>Time</a:t>
            </a:r>
          </a:p>
          <a:p>
            <a:pPr lvl="2">
              <a:lnSpc>
                <a:spcPct val="100000"/>
              </a:lnSpc>
            </a:pPr>
            <a:r>
              <a:rPr lang="en-US" sz="1800" dirty="0"/>
              <a:t>Month</a:t>
            </a:r>
          </a:p>
          <a:p>
            <a:pPr lvl="2">
              <a:lnSpc>
                <a:spcPct val="100000"/>
              </a:lnSpc>
            </a:pPr>
            <a:r>
              <a:rPr lang="en-US" sz="1800" dirty="0"/>
              <a:t>Lags</a:t>
            </a:r>
          </a:p>
          <a:p>
            <a:pPr lvl="1">
              <a:lnSpc>
                <a:spcPct val="100000"/>
              </a:lnSpc>
            </a:pPr>
            <a:r>
              <a:rPr lang="en-US" b="1" dirty="0"/>
              <a:t>Binary inputs</a:t>
            </a:r>
          </a:p>
          <a:p>
            <a:pPr lvl="2">
              <a:lnSpc>
                <a:spcPct val="100000"/>
              </a:lnSpc>
            </a:pPr>
            <a:r>
              <a:rPr lang="en-US" sz="1800" dirty="0"/>
              <a:t>Holiday indicator</a:t>
            </a:r>
          </a:p>
          <a:p>
            <a:pPr lvl="2">
              <a:lnSpc>
                <a:spcPct val="100000"/>
              </a:lnSpc>
            </a:pPr>
            <a:r>
              <a:rPr lang="en-US" sz="1800" dirty="0"/>
              <a:t>Daypart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A1038AC-BE1C-4FBF-B0D5-D5CBD7C0E18C}"/>
              </a:ext>
            </a:extLst>
          </p:cNvPr>
          <p:cNvSpPr txBox="1">
            <a:spLocks/>
          </p:cNvSpPr>
          <p:nvPr/>
        </p:nvSpPr>
        <p:spPr>
          <a:xfrm>
            <a:off x="7523922" y="1983850"/>
            <a:ext cx="3631758" cy="4304666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1800" b="1" dirty="0"/>
              <a:t>Output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Energy consumption prediction</a:t>
            </a:r>
            <a:endParaRPr lang="en-CH" dirty="0"/>
          </a:p>
          <a:p>
            <a:pPr lvl="1">
              <a:lnSpc>
                <a:spcPct val="100000"/>
              </a:lnSpc>
            </a:pPr>
            <a:endParaRPr lang="en-US" sz="2200" dirty="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EC0E59BE-0BAD-4A05-AFC9-6D97D0694338}"/>
              </a:ext>
            </a:extLst>
          </p:cNvPr>
          <p:cNvSpPr/>
          <p:nvPr/>
        </p:nvSpPr>
        <p:spPr>
          <a:xfrm>
            <a:off x="5032514" y="3607904"/>
            <a:ext cx="1822174" cy="735496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3C82E360-9214-4DF6-BFDF-5718BFDB5B0D}"/>
              </a:ext>
            </a:extLst>
          </p:cNvPr>
          <p:cNvSpPr/>
          <p:nvPr/>
        </p:nvSpPr>
        <p:spPr>
          <a:xfrm>
            <a:off x="3172239" y="2206487"/>
            <a:ext cx="753718" cy="3538330"/>
          </a:xfrm>
          <a:prstGeom prst="rightBrac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47827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1B6E0-B8A1-4961-A76B-BAAEBC78B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of contents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15302C-0734-4BFE-90A6-24F7590FCA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095191"/>
            <a:ext cx="10256520" cy="2852907"/>
          </a:xfrm>
        </p:spPr>
        <p:txBody>
          <a:bodyPr anchor="ctr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200" dirty="0">
                <a:solidFill>
                  <a:schemeClr val="bg1">
                    <a:lumMod val="65000"/>
                  </a:schemeClr>
                </a:solidFill>
              </a:rPr>
              <a:t>Project Description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200" dirty="0">
                <a:solidFill>
                  <a:schemeClr val="bg1">
                    <a:lumMod val="65000"/>
                  </a:schemeClr>
                </a:solidFill>
              </a:rPr>
              <a:t>Dataset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200" dirty="0">
                <a:solidFill>
                  <a:schemeClr val="bg1">
                    <a:lumMod val="65000"/>
                  </a:schemeClr>
                </a:solidFill>
              </a:rPr>
              <a:t>Pre-processing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200" dirty="0"/>
              <a:t>Modelling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200" dirty="0">
                <a:solidFill>
                  <a:schemeClr val="bg1">
                    <a:lumMod val="65000"/>
                  </a:schemeClr>
                </a:solidFill>
              </a:rPr>
              <a:t>Results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200" dirty="0">
                <a:solidFill>
                  <a:schemeClr val="bg1">
                    <a:lumMod val="65000"/>
                  </a:schemeClr>
                </a:solidFill>
              </a:rPr>
              <a:t>Next Steps</a:t>
            </a:r>
            <a:endParaRPr lang="ru-RU" sz="22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84656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094BD-14A6-4E2A-AB7F-2A278424D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Modelling</a:t>
            </a:r>
            <a:endParaRPr lang="en-C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500FB6-8733-47CF-B2A2-122A32FA3F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17081"/>
            <a:ext cx="10058400" cy="406505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900" b="1" dirty="0"/>
              <a:t>Nu-SVR</a:t>
            </a:r>
          </a:p>
          <a:p>
            <a:pPr lvl="1">
              <a:lnSpc>
                <a:spcPct val="100000"/>
              </a:lnSpc>
            </a:pPr>
            <a:r>
              <a:rPr lang="en-US" sz="1900" dirty="0"/>
              <a:t>Based on support vectors</a:t>
            </a:r>
          </a:p>
          <a:p>
            <a:pPr lvl="1">
              <a:lnSpc>
                <a:spcPct val="100000"/>
              </a:lnSpc>
            </a:pPr>
            <a:r>
              <a:rPr lang="en-US" sz="1900" dirty="0"/>
              <a:t>Hyperparameters: Nu, C, Polynomial degree</a:t>
            </a:r>
          </a:p>
          <a:p>
            <a:pPr>
              <a:lnSpc>
                <a:spcPct val="100000"/>
              </a:lnSpc>
            </a:pPr>
            <a:r>
              <a:rPr lang="en-US" sz="1900" b="1" dirty="0"/>
              <a:t>GPR</a:t>
            </a:r>
          </a:p>
          <a:p>
            <a:pPr lvl="1">
              <a:lnSpc>
                <a:spcPct val="100000"/>
              </a:lnSpc>
            </a:pPr>
            <a:r>
              <a:rPr lang="en-US" sz="1900" dirty="0"/>
              <a:t>Based on prior probability estimation </a:t>
            </a:r>
          </a:p>
          <a:p>
            <a:pPr lvl="1">
              <a:lnSpc>
                <a:spcPct val="100000"/>
              </a:lnSpc>
            </a:pPr>
            <a:r>
              <a:rPr lang="en-US" sz="1900" dirty="0"/>
              <a:t>Outputs confidence intervals</a:t>
            </a:r>
          </a:p>
          <a:p>
            <a:pPr lvl="1">
              <a:lnSpc>
                <a:spcPct val="100000"/>
              </a:lnSpc>
            </a:pPr>
            <a:r>
              <a:rPr lang="en-US" sz="1900" dirty="0"/>
              <a:t>Hyperparameters: Kernel type, length scale for RBF kernel, level of white noise</a:t>
            </a:r>
          </a:p>
          <a:p>
            <a:pPr>
              <a:lnSpc>
                <a:spcPct val="100000"/>
              </a:lnSpc>
            </a:pPr>
            <a:r>
              <a:rPr lang="en-US" sz="1900" b="1" dirty="0" err="1"/>
              <a:t>XGBoost</a:t>
            </a:r>
            <a:endParaRPr lang="en-US" sz="1900" b="1" dirty="0"/>
          </a:p>
          <a:p>
            <a:pPr lvl="1">
              <a:lnSpc>
                <a:spcPct val="100000"/>
              </a:lnSpc>
            </a:pPr>
            <a:r>
              <a:rPr lang="en-US" sz="1900" dirty="0"/>
              <a:t>Regularizing gradient boosting</a:t>
            </a:r>
          </a:p>
          <a:p>
            <a:pPr lvl="1">
              <a:lnSpc>
                <a:spcPct val="100000"/>
              </a:lnSpc>
            </a:pPr>
            <a:r>
              <a:rPr lang="en-US" sz="1900" dirty="0"/>
              <a:t>Squared error loss function</a:t>
            </a:r>
          </a:p>
          <a:p>
            <a:pPr lvl="1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8378776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872A2-2B42-48F7-A1AA-309EE01C4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 Metrics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F3861F-96A1-4282-B876-054FA34770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>
              <a:lnSpc>
                <a:spcPct val="150000"/>
              </a:lnSpc>
            </a:pPr>
            <a:r>
              <a:rPr lang="en-US" b="1" dirty="0"/>
              <a:t>Metrics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/>
              <a:t>MAE</a:t>
            </a:r>
          </a:p>
          <a:p>
            <a:pPr marL="914400" lvl="1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000" dirty="0"/>
              <a:t>MSE</a:t>
            </a:r>
          </a:p>
          <a:p>
            <a:pPr marL="914400" lvl="1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000" dirty="0"/>
              <a:t>MDA</a:t>
            </a:r>
          </a:p>
          <a:p>
            <a:pPr lvl="3">
              <a:lnSpc>
                <a:spcPct val="100000"/>
              </a:lnSpc>
            </a:pPr>
            <a:r>
              <a:rPr lang="en-US" sz="2000" i="1" dirty="0"/>
              <a:t>Mean directional accuracy: compares the forecast direction to the actual realized direction.</a:t>
            </a:r>
          </a:p>
          <a:p>
            <a:pPr marL="914400" lvl="1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000" dirty="0"/>
              <a:t>R2</a:t>
            </a:r>
            <a:endParaRPr lang="en-CH" sz="2000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832782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1B6E0-B8A1-4961-A76B-BAAEBC78B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of contents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15302C-0734-4BFE-90A6-24F7590FCA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095191"/>
            <a:ext cx="10058400" cy="2852907"/>
          </a:xfrm>
        </p:spPr>
        <p:txBody>
          <a:bodyPr anchor="ctr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200" dirty="0">
                <a:solidFill>
                  <a:schemeClr val="bg1">
                    <a:lumMod val="65000"/>
                  </a:schemeClr>
                </a:solidFill>
              </a:rPr>
              <a:t>Project Description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200" dirty="0">
                <a:solidFill>
                  <a:schemeClr val="bg1">
                    <a:lumMod val="65000"/>
                  </a:schemeClr>
                </a:solidFill>
              </a:rPr>
              <a:t>Dataset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200" dirty="0">
                <a:solidFill>
                  <a:schemeClr val="bg1">
                    <a:lumMod val="65000"/>
                  </a:schemeClr>
                </a:solidFill>
              </a:rPr>
              <a:t>Pre-processing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200" dirty="0">
                <a:solidFill>
                  <a:schemeClr val="bg1">
                    <a:lumMod val="65000"/>
                  </a:schemeClr>
                </a:solidFill>
              </a:rPr>
              <a:t>Modelling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200" dirty="0"/>
              <a:t>Results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200" dirty="0">
                <a:solidFill>
                  <a:schemeClr val="bg1">
                    <a:lumMod val="65000"/>
                  </a:schemeClr>
                </a:solidFill>
              </a:rPr>
              <a:t>Next Steps</a:t>
            </a:r>
            <a:endParaRPr lang="ru-RU" sz="22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55188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F7EB7-FCBE-4C13-9D80-C1E46C9DA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36908"/>
            <a:ext cx="10058400" cy="1450757"/>
          </a:xfrm>
        </p:spPr>
        <p:txBody>
          <a:bodyPr anchor="ctr"/>
          <a:lstStyle/>
          <a:p>
            <a:r>
              <a:rPr lang="en-US" dirty="0"/>
              <a:t>Results SVR</a:t>
            </a:r>
            <a:endParaRPr lang="en-CH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8555B2FF-41CF-4C22-9294-4C9CC342B2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9520" y="1317900"/>
            <a:ext cx="6392321" cy="2688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C92055B2-34E3-4937-8A34-EEA66ED657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9520" y="4006892"/>
            <a:ext cx="6437481" cy="26889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406222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D4DDD-1341-41C4-B199-E0F7CE3CC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/>
              <a:t>Results GPR</a:t>
            </a:r>
            <a:endParaRPr lang="en-CH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4DE0BA37-220C-4C17-9003-738753F79C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8943" y="1358283"/>
            <a:ext cx="6385535" cy="2686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9" name="Picture 5">
            <a:extLst>
              <a:ext uri="{FF2B5EF4-FFF2-40B4-BE49-F238E27FC236}">
                <a16:creationId xmlns:a16="http://schemas.microsoft.com/office/drawing/2014/main" id="{B3F4AAE5-CA53-466C-AE67-21B6FA0663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8944" y="4044421"/>
            <a:ext cx="6385535" cy="26672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00731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7D41F-21CA-4D4E-B080-0740533D6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/>
              <a:t>Results </a:t>
            </a:r>
            <a:r>
              <a:rPr lang="en-US" dirty="0" err="1"/>
              <a:t>XGBoost</a:t>
            </a:r>
            <a:endParaRPr lang="en-CH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7DA38638-237F-483A-9E35-B4251681FD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3450" y="1365500"/>
            <a:ext cx="6313161" cy="2655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>
            <a:extLst>
              <a:ext uri="{FF2B5EF4-FFF2-40B4-BE49-F238E27FC236}">
                <a16:creationId xmlns:a16="http://schemas.microsoft.com/office/drawing/2014/main" id="{7CEFDCB9-2AF0-4131-BFDF-6910FBC6C4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3450" y="4021193"/>
            <a:ext cx="6313161" cy="2637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53907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6C0BB-9899-4EEC-B2E0-DCF3CD093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  <a:endParaRPr lang="ru-RU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3A3DC24-C922-4007-A315-B615DA5803B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091" y="2210174"/>
            <a:ext cx="5581651" cy="3178572"/>
          </a:xfr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B71284F-BF71-469D-8D4B-A1F001490B3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74167" y="2200776"/>
            <a:ext cx="5157742" cy="3186564"/>
          </a:xfrm>
        </p:spPr>
      </p:pic>
    </p:spTree>
    <p:extLst>
      <p:ext uri="{BB962C8B-B14F-4D97-AF65-F5344CB8AC3E}">
        <p14:creationId xmlns:p14="http://schemas.microsoft.com/office/powerpoint/2010/main" val="7821838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2F91A-DBB6-428A-AD74-152520404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  <a:endParaRPr lang="ru-RU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8E343729-DADE-4BE4-86F4-0B5A22D0EB7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5580" y="2246243"/>
            <a:ext cx="5606133" cy="3169136"/>
          </a:xfrm>
          <a:prstGeom prst="rect">
            <a:avLst/>
          </a:prstGeom>
        </p:spPr>
      </p:pic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B80A7275-E582-4673-92EA-B2BBCD148E8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87473" y="2246243"/>
            <a:ext cx="5110075" cy="3169136"/>
          </a:xfrm>
        </p:spPr>
      </p:pic>
    </p:spTree>
    <p:extLst>
      <p:ext uri="{BB962C8B-B14F-4D97-AF65-F5344CB8AC3E}">
        <p14:creationId xmlns:p14="http://schemas.microsoft.com/office/powerpoint/2010/main" val="6687028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1B6E0-B8A1-4961-A76B-BAAEBC78B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of contents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15302C-0734-4BFE-90A6-24F7590FCA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095191"/>
            <a:ext cx="10256519" cy="2852907"/>
          </a:xfrm>
        </p:spPr>
        <p:txBody>
          <a:bodyPr anchor="ctr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200" dirty="0">
                <a:solidFill>
                  <a:schemeClr val="bg1">
                    <a:lumMod val="65000"/>
                  </a:schemeClr>
                </a:solidFill>
              </a:rPr>
              <a:t>Project Description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200" dirty="0">
                <a:solidFill>
                  <a:schemeClr val="bg1">
                    <a:lumMod val="65000"/>
                  </a:schemeClr>
                </a:solidFill>
              </a:rPr>
              <a:t>Dataset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200" dirty="0">
                <a:solidFill>
                  <a:schemeClr val="bg1">
                    <a:lumMod val="65000"/>
                  </a:schemeClr>
                </a:solidFill>
              </a:rPr>
              <a:t>Pre-processing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200" dirty="0">
                <a:solidFill>
                  <a:schemeClr val="bg1">
                    <a:lumMod val="65000"/>
                  </a:schemeClr>
                </a:solidFill>
              </a:rPr>
              <a:t>Modelling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200" dirty="0">
                <a:solidFill>
                  <a:schemeClr val="bg1">
                    <a:lumMod val="65000"/>
                  </a:schemeClr>
                </a:solidFill>
              </a:rPr>
              <a:t>Results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200" dirty="0"/>
              <a:t>Next Steps</a:t>
            </a:r>
            <a:endParaRPr lang="ru-RU" sz="2200" dirty="0"/>
          </a:p>
        </p:txBody>
      </p:sp>
    </p:spTree>
    <p:extLst>
      <p:ext uri="{BB962C8B-B14F-4D97-AF65-F5344CB8AC3E}">
        <p14:creationId xmlns:p14="http://schemas.microsoft.com/office/powerpoint/2010/main" val="14682086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B6A01E1-B73C-4861-9648-A612B9617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steps</a:t>
            </a:r>
            <a:endParaRPr lang="ru-RU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BBEDE7-C018-4F9D-ADEC-5080DDD74E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509206"/>
            <a:ext cx="10256520" cy="2364635"/>
          </a:xfrm>
        </p:spPr>
        <p:txBody>
          <a:bodyPr anchor="ctr">
            <a:normAutofit/>
          </a:bodyPr>
          <a:lstStyle/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200" dirty="0"/>
              <a:t>Start implementing Meta-Learning algorithms</a:t>
            </a:r>
          </a:p>
          <a:p>
            <a:pPr lvl="1">
              <a:lnSpc>
                <a:spcPct val="100000"/>
              </a:lnSpc>
            </a:pPr>
            <a:r>
              <a:rPr lang="en-US" sz="1800" dirty="0" err="1"/>
              <a:t>MaML</a:t>
            </a:r>
            <a:r>
              <a:rPr lang="en-US" sz="1800" dirty="0"/>
              <a:t> and Reptile model agnostic algorithms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/>
              <a:t>Obtain results for various households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/>
              <a:t>Analyze the results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/>
              <a:t>Fine-tune the models</a:t>
            </a:r>
            <a:endParaRPr lang="ru-RU" sz="2200" dirty="0"/>
          </a:p>
        </p:txBody>
      </p:sp>
    </p:spTree>
    <p:extLst>
      <p:ext uri="{BB962C8B-B14F-4D97-AF65-F5344CB8AC3E}">
        <p14:creationId xmlns:p14="http://schemas.microsoft.com/office/powerpoint/2010/main" val="1163603922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140</TotalTime>
  <Words>342</Words>
  <Application>Microsoft Office PowerPoint</Application>
  <PresentationFormat>Widescreen</PresentationFormat>
  <Paragraphs>129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Calibri Light</vt:lpstr>
      <vt:lpstr>Retrospect</vt:lpstr>
      <vt:lpstr>PowerPoint Presentation</vt:lpstr>
      <vt:lpstr>Table of contents</vt:lpstr>
      <vt:lpstr>Table of contents</vt:lpstr>
      <vt:lpstr>Goals of the project</vt:lpstr>
      <vt:lpstr>Steps</vt:lpstr>
      <vt:lpstr>Table of contents</vt:lpstr>
      <vt:lpstr>Dataset</vt:lpstr>
      <vt:lpstr>Consumption Distribution</vt:lpstr>
      <vt:lpstr>PowerPoint Presentation</vt:lpstr>
      <vt:lpstr>PowerPoint Presentation</vt:lpstr>
      <vt:lpstr>Table of contents</vt:lpstr>
      <vt:lpstr>Pre-processing</vt:lpstr>
      <vt:lpstr>Autocorrelation plot</vt:lpstr>
      <vt:lpstr>Model features</vt:lpstr>
      <vt:lpstr>Table of contents</vt:lpstr>
      <vt:lpstr>Modelling</vt:lpstr>
      <vt:lpstr>Evaluation Metrics</vt:lpstr>
      <vt:lpstr>Table of contents</vt:lpstr>
      <vt:lpstr>Results SVR</vt:lpstr>
      <vt:lpstr>Results GPR</vt:lpstr>
      <vt:lpstr>Results XGBoost</vt:lpstr>
      <vt:lpstr>Results</vt:lpstr>
      <vt:lpstr>Results</vt:lpstr>
      <vt:lpstr>Table of contents</vt:lpstr>
      <vt:lpstr>Next steps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Kravtsov Denis</dc:creator>
  <cp:lastModifiedBy>Kravtsov Denis</cp:lastModifiedBy>
  <cp:revision>10</cp:revision>
  <dcterms:created xsi:type="dcterms:W3CDTF">2021-11-21T13:15:59Z</dcterms:created>
  <dcterms:modified xsi:type="dcterms:W3CDTF">2021-11-21T18:21:51Z</dcterms:modified>
</cp:coreProperties>
</file>